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76" userDrawn="1">
          <p15:clr>
            <a:srgbClr val="A4A3A4"/>
          </p15:clr>
        </p15:guide>
        <p15:guide id="3" pos="7056" userDrawn="1">
          <p15:clr>
            <a:srgbClr val="A4A3A4"/>
          </p15:clr>
        </p15:guide>
        <p15:guide id="4" pos="13824" userDrawn="1">
          <p15:clr>
            <a:srgbClr val="A4A3A4"/>
          </p15:clr>
        </p15:guide>
        <p15:guide id="5" pos="20592" userDrawn="1">
          <p15:clr>
            <a:srgbClr val="A4A3A4"/>
          </p15:clr>
        </p15:guide>
        <p15:guide id="7" pos="27072" userDrawn="1">
          <p15:clr>
            <a:srgbClr val="A4A3A4"/>
          </p15:clr>
        </p15:guide>
        <p15:guide id="8" pos="23952" userDrawn="1">
          <p15:clr>
            <a:srgbClr val="A4A3A4"/>
          </p15:clr>
        </p15:guide>
        <p15:guide id="9" orient="horz" pos="10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45"/>
    <p:restoredTop sz="94661"/>
  </p:normalViewPr>
  <p:slideViewPr>
    <p:cSldViewPr snapToGrid="0" showGuides="1">
      <p:cViewPr varScale="1">
        <p:scale>
          <a:sx n="34" d="100"/>
          <a:sy n="34" d="100"/>
        </p:scale>
        <p:origin x="3464" y="232"/>
      </p:cViewPr>
      <p:guideLst>
        <p:guide pos="576"/>
        <p:guide pos="7056"/>
        <p:guide pos="13824"/>
        <p:guide pos="20592"/>
        <p:guide pos="27072"/>
        <p:guide pos="23952"/>
        <p:guide orient="horz"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E3F4A7-95F9-8C67-884E-7B14DAE7C7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206CAC-29AB-C2D5-EF6A-714AE37534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E82C8-7E37-1140-8C55-38B44CF03B17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2C7E29-57AA-D669-8275-6722A9152F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C728C-8DA0-8FB0-AD82-88211C5676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73C44C-C876-EA4D-89F8-F193DBBA27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431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79A4B-800E-E641-9591-49AAF69DC188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EB97C-E208-9D42-979B-B4AA4C80F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1521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9641-0B79-574F-AE4D-41A93D476F48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A378-3D35-C84E-B5F0-759F05443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53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9641-0B79-574F-AE4D-41A93D476F48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A378-3D35-C84E-B5F0-759F05443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971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9641-0B79-574F-AE4D-41A93D476F48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A378-3D35-C84E-B5F0-759F05443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268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9641-0B79-574F-AE4D-41A93D476F48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A378-3D35-C84E-B5F0-759F05443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645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9641-0B79-574F-AE4D-41A93D476F48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A378-3D35-C84E-B5F0-759F05443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81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9641-0B79-574F-AE4D-41A93D476F48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A378-3D35-C84E-B5F0-759F05443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2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9641-0B79-574F-AE4D-41A93D476F48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A378-3D35-C84E-B5F0-759F05443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425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9641-0B79-574F-AE4D-41A93D476F48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A378-3D35-C84E-B5F0-759F05443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10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9641-0B79-574F-AE4D-41A93D476F48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A378-3D35-C84E-B5F0-759F05443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08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9641-0B79-574F-AE4D-41A93D476F48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A378-3D35-C84E-B5F0-759F05443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0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9641-0B79-574F-AE4D-41A93D476F48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7A378-3D35-C84E-B5F0-759F05443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6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E9641-0B79-574F-AE4D-41A93D476F48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F7A378-3D35-C84E-B5F0-759F05443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3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13" Type="http://schemas.openxmlformats.org/officeDocument/2006/relationships/image" Target="../media/image6.jpg"/><Relationship Id="rId18" Type="http://schemas.openxmlformats.org/officeDocument/2006/relationships/image" Target="../media/image11.jpg"/><Relationship Id="rId26" Type="http://schemas.openxmlformats.org/officeDocument/2006/relationships/image" Target="../media/image19.jpg"/><Relationship Id="rId3" Type="http://schemas.microsoft.com/office/2007/relationships/media" Target="../media/media2.mp4"/><Relationship Id="rId21" Type="http://schemas.openxmlformats.org/officeDocument/2006/relationships/image" Target="../media/image14.jpg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5.jpg"/><Relationship Id="rId17" Type="http://schemas.openxmlformats.org/officeDocument/2006/relationships/image" Target="../media/image10.jpg"/><Relationship Id="rId25" Type="http://schemas.openxmlformats.org/officeDocument/2006/relationships/image" Target="../media/image18.jpg"/><Relationship Id="rId2" Type="http://schemas.openxmlformats.org/officeDocument/2006/relationships/video" Target="../media/media1.mp4"/><Relationship Id="rId16" Type="http://schemas.openxmlformats.org/officeDocument/2006/relationships/image" Target="../media/image9.jpg"/><Relationship Id="rId20" Type="http://schemas.openxmlformats.org/officeDocument/2006/relationships/image" Target="../media/image13.jpg"/><Relationship Id="rId29" Type="http://schemas.openxmlformats.org/officeDocument/2006/relationships/image" Target="../media/image22.png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4.jpg"/><Relationship Id="rId24" Type="http://schemas.openxmlformats.org/officeDocument/2006/relationships/image" Target="../media/image17.png"/><Relationship Id="rId5" Type="http://schemas.microsoft.com/office/2007/relationships/media" Target="../media/media3.mp4"/><Relationship Id="rId15" Type="http://schemas.openxmlformats.org/officeDocument/2006/relationships/image" Target="../media/image8.jpg"/><Relationship Id="rId23" Type="http://schemas.openxmlformats.org/officeDocument/2006/relationships/image" Target="../media/image16.png"/><Relationship Id="rId28" Type="http://schemas.openxmlformats.org/officeDocument/2006/relationships/image" Target="../media/image21.png"/><Relationship Id="rId10" Type="http://schemas.openxmlformats.org/officeDocument/2006/relationships/image" Target="../media/image3.jpg"/><Relationship Id="rId19" Type="http://schemas.openxmlformats.org/officeDocument/2006/relationships/image" Target="../media/image12.jpg"/><Relationship Id="rId4" Type="http://schemas.openxmlformats.org/officeDocument/2006/relationships/video" Target="../media/media2.mp4"/><Relationship Id="rId9" Type="http://schemas.openxmlformats.org/officeDocument/2006/relationships/image" Target="../media/image2.jpg"/><Relationship Id="rId14" Type="http://schemas.openxmlformats.org/officeDocument/2006/relationships/image" Target="../media/image7.jpg"/><Relationship Id="rId22" Type="http://schemas.openxmlformats.org/officeDocument/2006/relationships/image" Target="../media/image15.jpg"/><Relationship Id="rId27" Type="http://schemas.openxmlformats.org/officeDocument/2006/relationships/image" Target="../media/image20.png"/><Relationship Id="rId30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51BE8F-2975-555D-B93C-300399F70B3C}"/>
              </a:ext>
            </a:extLst>
          </p:cNvPr>
          <p:cNvSpPr txBox="1"/>
          <p:nvPr/>
        </p:nvSpPr>
        <p:spPr>
          <a:xfrm>
            <a:off x="11183893" y="25329"/>
            <a:ext cx="10802163" cy="317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Introduction</a:t>
            </a:r>
          </a:p>
          <a:p>
            <a:r>
              <a:rPr lang="en-US" sz="2400" b="1" dirty="0"/>
              <a:t>Current imaging technology is constrained</a:t>
            </a:r>
            <a:r>
              <a:rPr lang="en-US" sz="2400" dirty="0"/>
              <a:t> by the Field of View (</a:t>
            </a:r>
            <a:r>
              <a:rPr lang="en-US" sz="2400" dirty="0" err="1"/>
              <a:t>FoV</a:t>
            </a:r>
            <a:r>
              <a:rPr lang="en-US" sz="2400" dirty="0"/>
              <a:t>) provided by state-of-the-art CCD designs and associated pipelines.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standard "point-and-image" strategy</a:t>
            </a:r>
            <a:r>
              <a:rPr lang="en-US" sz="2400" dirty="0"/>
              <a:t> (planning, slewing, and acquiring targets sequentially) remains the default technique.</a:t>
            </a:r>
          </a:p>
          <a:p>
            <a:r>
              <a:rPr lang="en-US" sz="2400" dirty="0"/>
              <a:t>Advanced telescopes like Rubin and Nancy Grace Roman still rely on this repeating Right Ascension (RA) and Declination (Dec) target process.</a:t>
            </a:r>
          </a:p>
          <a:p>
            <a:r>
              <a:rPr lang="en-US" sz="2400" b="1" dirty="0"/>
              <a:t>Time-domain astronomy</a:t>
            </a:r>
            <a:r>
              <a:rPr lang="en-US" sz="2400" dirty="0"/>
              <a:t> is currently limited by the time deltas required to repeat point-and-image cycles.</a:t>
            </a:r>
          </a:p>
          <a:p>
            <a:r>
              <a:rPr lang="en-US" sz="2400" dirty="0"/>
              <a:t>The Full Sky Kinematics and Imaging (FSKI) platform is designed to </a:t>
            </a:r>
            <a:r>
              <a:rPr lang="en-US" sz="2400" b="1" dirty="0"/>
              <a:t>radically expand </a:t>
            </a:r>
            <a:r>
              <a:rPr lang="en-US" sz="2400" b="1" dirty="0" err="1"/>
              <a:t>FoV</a:t>
            </a:r>
            <a:r>
              <a:rPr lang="en-US" sz="2400" dirty="0"/>
              <a:t> capabilities.</a:t>
            </a:r>
          </a:p>
          <a:p>
            <a:r>
              <a:rPr lang="en-US" sz="2400" dirty="0"/>
              <a:t>The primary goal is to achieve </a:t>
            </a:r>
            <a:r>
              <a:rPr lang="en-US" sz="2400" b="1" dirty="0"/>
              <a:t>full sky coverage</a:t>
            </a:r>
            <a:r>
              <a:rPr lang="en-US" sz="2400" dirty="0"/>
              <a:t> through a specialized platform configuration and deployment.</a:t>
            </a:r>
          </a:p>
          <a:p>
            <a:r>
              <a:rPr lang="en-US" sz="2400" dirty="0"/>
              <a:t>FSKI enables a cadence that supports </a:t>
            </a:r>
            <a:r>
              <a:rPr lang="en-US" sz="2400" b="1" dirty="0"/>
              <a:t>full sky time-domain astronomy</a:t>
            </a:r>
            <a:r>
              <a:rPr lang="en-US" sz="2400" dirty="0"/>
              <a:t>.</a:t>
            </a:r>
          </a:p>
          <a:p>
            <a:endParaRPr lang="en-US" sz="2400" b="1" dirty="0"/>
          </a:p>
          <a:p>
            <a:r>
              <a:rPr lang="en-US" sz="2400" b="1" dirty="0"/>
              <a:t>Methodology</a:t>
            </a:r>
          </a:p>
          <a:p>
            <a:r>
              <a:rPr lang="en-US" sz="2400" dirty="0"/>
              <a:t>The platform utilizes a </a:t>
            </a:r>
            <a:r>
              <a:rPr lang="en-US" sz="2400" b="1" dirty="0"/>
              <a:t>Goldberg polyhedron {3,3} design</a:t>
            </a:r>
            <a:r>
              <a:rPr lang="en-US" sz="2400" dirty="0"/>
              <a:t> as a starting point.</a:t>
            </a:r>
          </a:p>
          <a:p>
            <a:r>
              <a:rPr lang="en-US" sz="2400" dirty="0"/>
              <a:t>The full configuration includes </a:t>
            </a:r>
            <a:r>
              <a:rPr lang="en-US" sz="2400" b="1" dirty="0"/>
              <a:t>12 pentagons and 260 hexagons</a:t>
            </a:r>
            <a:r>
              <a:rPr lang="en-US" sz="2400" dirty="0"/>
              <a:t>, creating 272 tapered chambers.</a:t>
            </a:r>
          </a:p>
          <a:p>
            <a:r>
              <a:rPr lang="en-US" sz="2400" dirty="0"/>
              <a:t>For outer space deployment, polyhedrons are </a:t>
            </a:r>
            <a:r>
              <a:rPr lang="en-US" sz="2400" b="1" dirty="0"/>
              <a:t>truncated to roughly 3/5ths</a:t>
            </a:r>
            <a:r>
              <a:rPr lang="en-US" sz="2400" dirty="0"/>
              <a:t> (approx. 201 faces) to accommodate support equipment.</a:t>
            </a:r>
          </a:p>
          <a:p>
            <a:r>
              <a:rPr lang="en-US" sz="2400" dirty="0"/>
              <a:t>Each tapered chamber houses </a:t>
            </a:r>
            <a:r>
              <a:rPr lang="en-US" sz="2400" b="1" dirty="0"/>
              <a:t>1 to n lenses</a:t>
            </a:r>
            <a:r>
              <a:rPr lang="en-US" sz="2400" dirty="0"/>
              <a:t> and associated telescope apparatus.</a:t>
            </a:r>
          </a:p>
          <a:p>
            <a:r>
              <a:rPr lang="en-US" sz="2400" dirty="0"/>
              <a:t>A </a:t>
            </a:r>
            <a:r>
              <a:rPr lang="en-US" sz="2400" b="1" dirty="0"/>
              <a:t>central interior core</a:t>
            </a:r>
            <a:r>
              <a:rPr lang="en-US" sz="2400" dirty="0"/>
              <a:t> serves as an equipment bay for image capture, packet assembly, and radio interface.</a:t>
            </a:r>
          </a:p>
          <a:p>
            <a:r>
              <a:rPr lang="en-US" sz="2400" dirty="0"/>
              <a:t>Onboard architectures include </a:t>
            </a:r>
            <a:r>
              <a:rPr lang="en-US" sz="2400" b="1" dirty="0"/>
              <a:t>Ion thrusters, Attitude Control Subsystems (ACS)</a:t>
            </a:r>
            <a:r>
              <a:rPr lang="en-US" sz="2400" dirty="0"/>
              <a:t>, and solid-state recorders.</a:t>
            </a:r>
          </a:p>
          <a:p>
            <a:r>
              <a:rPr lang="en-US" sz="2400" dirty="0"/>
              <a:t>High-gain (Ka-Band) and medium-gain (S-Band) antennas facilitate </a:t>
            </a:r>
            <a:r>
              <a:rPr lang="en-US" sz="2400" b="1" dirty="0"/>
              <a:t>science data downlink</a:t>
            </a:r>
            <a:r>
              <a:rPr lang="en-US" sz="2400" dirty="0"/>
              <a:t> and maintenance.</a:t>
            </a:r>
          </a:p>
          <a:p>
            <a:r>
              <a:rPr lang="en-US" sz="2400" dirty="0"/>
              <a:t>A </a:t>
            </a:r>
            <a:r>
              <a:rPr lang="en-US" sz="2400" b="1" dirty="0"/>
              <a:t>central post supports an umbrella-like solar shield</a:t>
            </a:r>
            <a:r>
              <a:rPr lang="en-US" sz="2400" dirty="0"/>
              <a:t> to protect cryogenic supplies and sensors.</a:t>
            </a:r>
          </a:p>
          <a:p>
            <a:r>
              <a:rPr lang="en-US" sz="2400" dirty="0"/>
              <a:t>Deployment is optimized for </a:t>
            </a:r>
            <a:r>
              <a:rPr lang="en-US" sz="2400" b="1" dirty="0"/>
              <a:t>Lagrange points (L2, L3, L4, and L5)</a:t>
            </a:r>
            <a:r>
              <a:rPr lang="en-US" sz="2400" dirty="0"/>
              <a:t> or terrestrial locations.</a:t>
            </a:r>
          </a:p>
          <a:p>
            <a:endParaRPr lang="en-US" sz="2400" dirty="0"/>
          </a:p>
          <a:p>
            <a:r>
              <a:rPr lang="en-US" sz="2400" b="1" dirty="0"/>
              <a:t>Results</a:t>
            </a:r>
          </a:p>
          <a:p>
            <a:r>
              <a:rPr lang="en-US" sz="2400" dirty="0"/>
              <a:t>The 15-foot (4.6m) diameter design </a:t>
            </a:r>
            <a:r>
              <a:rPr lang="en-US" sz="2400" b="1" dirty="0"/>
              <a:t>fits within standard payload fairings</a:t>
            </a:r>
            <a:r>
              <a:rPr lang="en-US" sz="2400" dirty="0"/>
              <a:t> (PLF), such as those used for the James Webb Space Telescope.</a:t>
            </a:r>
          </a:p>
          <a:p>
            <a:r>
              <a:rPr lang="en-US" sz="2400" b="1" dirty="0"/>
              <a:t>Scalability metrics</a:t>
            </a:r>
            <a:r>
              <a:rPr lang="en-US" sz="2400" dirty="0"/>
              <a:t> show total lens counts ranging from 1,365 to 6,594 depending on the polyhedron frequency and lenses per face.</a:t>
            </a:r>
          </a:p>
          <a:p>
            <a:r>
              <a:rPr lang="en-US" sz="2400" dirty="0"/>
              <a:t>Individual telescope assemblies are estimated to cover </a:t>
            </a:r>
            <a:r>
              <a:rPr lang="en-US" sz="2400" b="1" dirty="0"/>
              <a:t>2-4 square degrees</a:t>
            </a:r>
            <a:r>
              <a:rPr lang="en-US" sz="2400" dirty="0"/>
              <a:t>.</a:t>
            </a:r>
          </a:p>
          <a:p>
            <a:r>
              <a:rPr lang="en-US" sz="2400" b="1" dirty="0"/>
              <a:t>L2 and L3 deployment</a:t>
            </a:r>
            <a:r>
              <a:rPr lang="en-US" sz="2400" dirty="0"/>
              <a:t> creates a tandem pair that covers the full celestial sphere with intentional spherical overlap.</a:t>
            </a:r>
          </a:p>
          <a:p>
            <a:r>
              <a:rPr lang="en-US" sz="2400" b="1" dirty="0"/>
              <a:t>L4 and L5 deployment</a:t>
            </a:r>
            <a:r>
              <a:rPr lang="en-US" sz="2400" dirty="0"/>
              <a:t> provides stable orbital tracking without requiring a direct solar-opposite communication relay.</a:t>
            </a:r>
          </a:p>
          <a:p>
            <a:r>
              <a:rPr lang="en-US" sz="2400" dirty="0"/>
              <a:t>Simulations demonstrate effective </a:t>
            </a:r>
            <a:r>
              <a:rPr lang="en-US" sz="2400" b="1" dirty="0"/>
              <a:t>half-sphere sky coverage</a:t>
            </a:r>
            <a:r>
              <a:rPr lang="en-US" sz="2400" dirty="0"/>
              <a:t> at target separations of 1.25 and 2.50 degrees.</a:t>
            </a:r>
          </a:p>
          <a:p>
            <a:r>
              <a:rPr lang="en-US" sz="2400" dirty="0"/>
              <a:t>Terrestrial configurations can provide </a:t>
            </a:r>
            <a:r>
              <a:rPr lang="en-US" sz="2400" b="1" dirty="0"/>
              <a:t>horizon-to-horizon coverage</a:t>
            </a:r>
            <a:r>
              <a:rPr lang="en-US" sz="2400" dirty="0"/>
              <a:t> using a mount to follow sky motion.</a:t>
            </a:r>
          </a:p>
          <a:p>
            <a:endParaRPr lang="en-US" sz="2400" dirty="0"/>
          </a:p>
          <a:p>
            <a:r>
              <a:rPr lang="en-US" sz="2400" b="1" dirty="0"/>
              <a:t>Discussion</a:t>
            </a:r>
          </a:p>
          <a:p>
            <a:r>
              <a:rPr lang="en-US" sz="2400" b="1" dirty="0"/>
              <a:t>Parallel and modular scalability</a:t>
            </a:r>
            <a:r>
              <a:rPr lang="en-US" sz="2400" dirty="0"/>
              <a:t> is driven by the polyhedron diameter and facial frequency.</a:t>
            </a:r>
          </a:p>
          <a:p>
            <a:r>
              <a:rPr lang="en-US" sz="2400" dirty="0"/>
              <a:t>A </a:t>
            </a:r>
            <a:r>
              <a:rPr lang="en-US" sz="2400" b="1" dirty="0"/>
              <a:t>"tilting strategy"</a:t>
            </a:r>
            <a:r>
              <a:rPr lang="en-US" sz="2400" dirty="0"/>
              <a:t> allows tandem pairs to aim lenses at unique target sets, expanding the total "tapestry" </a:t>
            </a:r>
            <a:r>
              <a:rPr lang="en-US" sz="2400" dirty="0" err="1"/>
              <a:t>FoV</a:t>
            </a:r>
            <a:r>
              <a:rPr lang="en-US" sz="2400" dirty="0"/>
              <a:t>.</a:t>
            </a:r>
          </a:p>
          <a:p>
            <a:r>
              <a:rPr lang="en-US" sz="2400" dirty="0"/>
              <a:t>FSKI platforms can operate in tandem at distances of </a:t>
            </a:r>
            <a:r>
              <a:rPr lang="en-US" sz="2400" b="1" dirty="0"/>
              <a:t>200 kilometers without mutual interference</a:t>
            </a:r>
            <a:r>
              <a:rPr lang="en-US" sz="2400" dirty="0"/>
              <a:t>.</a:t>
            </a:r>
          </a:p>
          <a:p>
            <a:r>
              <a:rPr lang="en-US" sz="2400" dirty="0"/>
              <a:t>Reducing the sphere size can facilitate </a:t>
            </a:r>
            <a:r>
              <a:rPr lang="en-US" sz="2400" b="1" dirty="0"/>
              <a:t>triplet or quadruplet deployment strategies</a:t>
            </a:r>
            <a:r>
              <a:rPr lang="en-US" sz="2400" dirty="0"/>
              <a:t> for even higher coverage factors.</a:t>
            </a:r>
          </a:p>
          <a:p>
            <a:r>
              <a:rPr lang="en-US" sz="2400" dirty="0"/>
              <a:t>Terrestrial deployment allows for </a:t>
            </a:r>
            <a:r>
              <a:rPr lang="en-US" sz="2400" b="1" dirty="0"/>
              <a:t>two-tier exploration</a:t>
            </a:r>
            <a:r>
              <a:rPr lang="en-US" sz="2400" dirty="0"/>
              <a:t>: the Earth daytime sky dome and the full nighttime celestial dome.</a:t>
            </a:r>
          </a:p>
          <a:p>
            <a:r>
              <a:rPr lang="en-US" sz="2400" dirty="0"/>
              <a:t>Platform effectiveness is enhanced by </a:t>
            </a:r>
            <a:r>
              <a:rPr lang="en-US" sz="2400" b="1" dirty="0"/>
              <a:t>modern sensor designs</a:t>
            </a:r>
            <a:r>
              <a:rPr lang="en-US" sz="2400" dirty="0"/>
              <a:t>, including stacked CMOS and curved focal plane arrays.</a:t>
            </a:r>
          </a:p>
          <a:p>
            <a:r>
              <a:rPr lang="en-US" sz="2400" dirty="0"/>
              <a:t>Size reduction and complexity simplification leverage historical trends seen in CubeSats and modern computing.</a:t>
            </a:r>
          </a:p>
          <a:p>
            <a:endParaRPr lang="en-US" sz="2400" dirty="0"/>
          </a:p>
          <a:p>
            <a:r>
              <a:rPr lang="en-US" sz="2400" b="1" dirty="0"/>
              <a:t>Conclusion</a:t>
            </a:r>
          </a:p>
          <a:p>
            <a:r>
              <a:rPr lang="en-US" sz="2400" dirty="0"/>
              <a:t>FSKI provides a </a:t>
            </a:r>
            <a:r>
              <a:rPr lang="en-US" sz="2400" b="1" dirty="0"/>
              <a:t>revolutionary alternative</a:t>
            </a:r>
            <a:r>
              <a:rPr lang="en-US" sz="2400" dirty="0"/>
              <a:t> to the traditional RA/Dec point-and-image limitation.</a:t>
            </a:r>
          </a:p>
          <a:p>
            <a:r>
              <a:rPr lang="en-US" sz="2400" dirty="0"/>
              <a:t>The design enables </a:t>
            </a:r>
            <a:r>
              <a:rPr lang="en-US" sz="2400" b="1" dirty="0"/>
              <a:t>continuous monitoring of the full celestial sphere</a:t>
            </a:r>
            <a:r>
              <a:rPr lang="en-US" sz="2400" dirty="0"/>
              <a:t> for time-domain science.</a:t>
            </a:r>
          </a:p>
          <a:p>
            <a:r>
              <a:rPr lang="en-US" sz="2400" dirty="0"/>
              <a:t>The platform's physical dimensions are </a:t>
            </a:r>
            <a:r>
              <a:rPr lang="en-US" sz="2400" b="1" dirty="0"/>
              <a:t>compatible with existing launch technology</a:t>
            </a:r>
            <a:r>
              <a:rPr lang="en-US" sz="2400" dirty="0"/>
              <a:t>, making deployment feasible.</a:t>
            </a:r>
          </a:p>
          <a:p>
            <a:r>
              <a:rPr lang="en-US" sz="2400" dirty="0"/>
              <a:t>Modular lens layouts and tandem pairing offer </a:t>
            </a:r>
            <a:r>
              <a:rPr lang="en-US" sz="2400" b="1" dirty="0"/>
              <a:t>unprecedented scalability</a:t>
            </a:r>
            <a:r>
              <a:rPr lang="en-US" sz="2400" dirty="0"/>
              <a:t> for future astronomical surveys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b="1" dirty="0"/>
              <a:t>Figure 0: Animation of Solar array</a:t>
            </a:r>
          </a:p>
          <a:p>
            <a:r>
              <a:rPr lang="en-US" sz="2400" b="1" dirty="0"/>
              <a:t>And Solar shield  in outer space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0F00A2-7719-E653-C909-1B0595AA0565}"/>
              </a:ext>
            </a:extLst>
          </p:cNvPr>
          <p:cNvSpPr txBox="1"/>
          <p:nvPr/>
        </p:nvSpPr>
        <p:spPr>
          <a:xfrm>
            <a:off x="889000" y="15875"/>
            <a:ext cx="10287000" cy="1529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r>
              <a:rPr lang="en-US" sz="2400" b="1" dirty="0"/>
              <a:t>Photo of author, Fred Klich, student CU Boulder</a:t>
            </a:r>
            <a:endParaRPr lang="en-US" sz="2400" dirty="0"/>
          </a:p>
          <a:p>
            <a:r>
              <a:rPr lang="en-US" sz="2400" dirty="0"/>
              <a:t> </a:t>
            </a:r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Preamble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Full Sky Kinematics and Imaging (FSKI)</a:t>
            </a:r>
            <a:r>
              <a:rPr lang="en-US" sz="2400" dirty="0"/>
              <a:t> platform is a proposed astronomical system designed to overcome the limitations of traditional </a:t>
            </a:r>
            <a:r>
              <a:rPr lang="en-US" sz="2400" b="1" dirty="0"/>
              <a:t>point-and-image telescopes</a:t>
            </a:r>
            <a:r>
              <a:rPr lang="en-US" sz="2400" dirty="0"/>
              <a:t>. By utilizing a </a:t>
            </a:r>
            <a:r>
              <a:rPr lang="en-US" sz="2400" b="1" dirty="0"/>
              <a:t>Goldberg polyhedron</a:t>
            </a:r>
            <a:r>
              <a:rPr lang="en-US" sz="2400" dirty="0"/>
              <a:t> structure, the platform incorporates hundreds of tapered chambers that house multiple lenses to capture vast areas of the </a:t>
            </a:r>
            <a:r>
              <a:rPr lang="en-US" sz="2400" b="1" dirty="0"/>
              <a:t>celestial sphere</a:t>
            </a:r>
            <a:r>
              <a:rPr lang="en-US" sz="2400" dirty="0"/>
              <a:t> simultaneously. These modular spheres are intended to operate in </a:t>
            </a:r>
            <a:r>
              <a:rPr lang="en-US" sz="2400" b="1" dirty="0"/>
              <a:t>coordinated pairs</a:t>
            </a:r>
            <a:r>
              <a:rPr lang="en-US" sz="2400" dirty="0"/>
              <a:t> at stable </a:t>
            </a:r>
            <a:r>
              <a:rPr lang="en-US" sz="2400" b="1" dirty="0"/>
              <a:t>Lagrange points</a:t>
            </a:r>
            <a:r>
              <a:rPr lang="en-US" sz="2400" dirty="0"/>
              <a:t> in space or at high-latitude terrestrial locations to enable continuous, </a:t>
            </a:r>
            <a:r>
              <a:rPr lang="en-US" sz="2400" b="1" dirty="0"/>
              <a:t>time-domain astronomy</a:t>
            </a:r>
            <a:r>
              <a:rPr lang="en-US" sz="2400" dirty="0"/>
              <a:t>. The architecture leverages a </a:t>
            </a:r>
            <a:r>
              <a:rPr lang="en-US" sz="2400" b="1" dirty="0"/>
              <a:t>central equipment bay</a:t>
            </a:r>
            <a:r>
              <a:rPr lang="en-US" sz="2400" dirty="0"/>
              <a:t> and advanced sensors to process and transmit comprehensive data across the entire sky. This design aims to provide a </a:t>
            </a:r>
            <a:r>
              <a:rPr lang="en-US" sz="2400" b="1" dirty="0"/>
              <a:t>scalable solution</a:t>
            </a:r>
            <a:r>
              <a:rPr lang="en-US" sz="2400" dirty="0"/>
              <a:t> for surveying the cosmos with significantly higher efficiency than current narrow-field observatories. Supporting materials, including </a:t>
            </a:r>
            <a:r>
              <a:rPr lang="en-US" sz="2400" b="1" dirty="0"/>
              <a:t>3D prototypes</a:t>
            </a:r>
            <a:r>
              <a:rPr lang="en-US" sz="2400" dirty="0"/>
              <a:t> and orbital animations, demonstrate the feasibility of deploying these units within standard rocket </a:t>
            </a:r>
            <a:r>
              <a:rPr lang="en-US" sz="2400" b="1" dirty="0"/>
              <a:t>payload fairings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b="1" dirty="0"/>
              <a:t>Online </a:t>
            </a:r>
            <a:r>
              <a:rPr lang="en-US" sz="2400" b="1" dirty="0" err="1"/>
              <a:t>github.com</a:t>
            </a:r>
            <a:r>
              <a:rPr lang="en-US" sz="2400" b="1" dirty="0"/>
              <a:t> repository</a:t>
            </a:r>
          </a:p>
          <a:p>
            <a:r>
              <a:rPr lang="en-US" sz="2400" dirty="0"/>
              <a:t>All related files/images/animations/README’s for this project.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800" b="1" dirty="0"/>
              <a:t>Click to preview two FSKI Solar orbital animations (w/sound)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F6D26B-330C-293E-91E0-086FBB8776FD}"/>
              </a:ext>
            </a:extLst>
          </p:cNvPr>
          <p:cNvSpPr txBox="1"/>
          <p:nvPr/>
        </p:nvSpPr>
        <p:spPr>
          <a:xfrm>
            <a:off x="21886676" y="15875"/>
            <a:ext cx="10744200" cy="1708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Goldberg polyhedron design serves as the geometric foundation for the Full Sky Kinematics and Imaging (FSKI) platform, providing a structured way to house thousands of individual telescopes for full celestial coverage.</a:t>
            </a:r>
          </a:p>
          <a:p>
            <a:endParaRPr lang="en-US" sz="2400" dirty="0"/>
          </a:p>
          <a:p>
            <a:r>
              <a:rPr lang="en-US" sz="2400" b="1" dirty="0"/>
              <a:t>Core Geometry and Starting Point</a:t>
            </a:r>
          </a:p>
          <a:p>
            <a:r>
              <a:rPr lang="en-US" sz="2400" dirty="0"/>
              <a:t>The design utilizes a </a:t>
            </a:r>
            <a:r>
              <a:rPr lang="en-US" sz="2400" b="1" dirty="0"/>
              <a:t>Goldberg polyhedron {3,3}</a:t>
            </a:r>
            <a:r>
              <a:rPr lang="en-US" sz="2400" dirty="0"/>
              <a:t> as its primary architectural framework. A fully populated version of this specific polyhedron consists of </a:t>
            </a:r>
            <a:r>
              <a:rPr lang="en-US" sz="2400" b="1" dirty="0"/>
              <a:t>272 tapered chambers</a:t>
            </a:r>
            <a:r>
              <a:rPr lang="en-US" sz="2400" dirty="0"/>
              <a:t>, divided into </a:t>
            </a:r>
            <a:r>
              <a:rPr lang="en-US" sz="2400" b="1" dirty="0"/>
              <a:t>12 pentagons and 260 hexagons</a:t>
            </a:r>
            <a:r>
              <a:rPr lang="en-US" sz="2400" dirty="0"/>
              <a:t>. These chambers are designed to house between 1 and </a:t>
            </a:r>
            <a:r>
              <a:rPr lang="en-US" sz="2400" i="1" dirty="0"/>
              <a:t>n</a:t>
            </a:r>
            <a:r>
              <a:rPr lang="en-US" sz="2400" dirty="0"/>
              <a:t> lenses and their associated telescope apparatus, with each lens aimed at a unique point in the sky.</a:t>
            </a:r>
          </a:p>
          <a:p>
            <a:endParaRPr lang="en-US" sz="2400" dirty="0"/>
          </a:p>
          <a:p>
            <a:r>
              <a:rPr lang="en-US" sz="2400" b="1" dirty="0"/>
              <a:t>Truncation and Space Deployment</a:t>
            </a:r>
          </a:p>
          <a:p>
            <a:r>
              <a:rPr lang="en-US" sz="2400" dirty="0"/>
              <a:t>While a full sphere is ideal for terrestrial use to achieve horizon-to-horizon coverage, platforms intended for outer space deployment are </a:t>
            </a:r>
            <a:r>
              <a:rPr lang="en-US" sz="2400" b="1" dirty="0"/>
              <a:t>truncated</a:t>
            </a:r>
            <a:r>
              <a:rPr lang="en-US" sz="2400" dirty="0"/>
              <a:t>.</a:t>
            </a:r>
          </a:p>
          <a:p>
            <a:r>
              <a:rPr lang="en-US" sz="2400" b="1" dirty="0"/>
              <a:t>3/5ths Coverage:</a:t>
            </a:r>
            <a:r>
              <a:rPr lang="en-US" sz="2400" dirty="0"/>
              <a:t> For space operations, the polyhedron is typically truncated to approximately </a:t>
            </a:r>
            <a:r>
              <a:rPr lang="en-US" sz="2400" b="1" dirty="0"/>
              <a:t>3/5ths of a full sphere</a:t>
            </a:r>
            <a:r>
              <a:rPr lang="en-US" sz="2400" dirty="0"/>
              <a:t> (roughly 201 faces for the {3,3} model).</a:t>
            </a:r>
          </a:p>
          <a:p>
            <a:r>
              <a:rPr lang="en-US" sz="2400" b="1" dirty="0"/>
              <a:t>Supplementary Space:</a:t>
            </a:r>
            <a:r>
              <a:rPr lang="en-US" sz="2400" dirty="0"/>
              <a:t> The remaining </a:t>
            </a:r>
            <a:r>
              <a:rPr lang="en-US" sz="2400" b="1" dirty="0"/>
              <a:t>2/5ths of the sphere is left open/vacant</a:t>
            </a:r>
            <a:r>
              <a:rPr lang="en-US" sz="2400" dirty="0"/>
              <a:t> to accommodate critical support components, such as the central equipment bay, power systems, fuel for station keeping, and communication antennas.</a:t>
            </a:r>
          </a:p>
          <a:p>
            <a:r>
              <a:rPr lang="en-US" sz="2400" b="1" dirty="0"/>
              <a:t>Interior Architecture:</a:t>
            </a:r>
            <a:r>
              <a:rPr lang="en-US" sz="2400" dirty="0"/>
              <a:t> Each tapered chamber connects to a </a:t>
            </a:r>
            <a:r>
              <a:rPr lang="en-US" sz="2400" b="1" dirty="0"/>
              <a:t>central interior core</a:t>
            </a:r>
            <a:r>
              <a:rPr lang="en-US" sz="2400" dirty="0"/>
              <a:t> (equipment bay), which facilitates packet assembly for image data and interface with the high-gain antenna.</a:t>
            </a:r>
          </a:p>
          <a:p>
            <a:endParaRPr lang="en-US" sz="2400" dirty="0"/>
          </a:p>
          <a:p>
            <a:r>
              <a:rPr lang="en-US" sz="2400" b="1" dirty="0"/>
              <a:t>Scalability and Frequency</a:t>
            </a:r>
          </a:p>
          <a:p>
            <a:r>
              <a:rPr lang="en-US" sz="2400" dirty="0"/>
              <a:t>The platform's capability is directly tied to the "frequency" of the Goldberg polyhedron, which determines the number of available chambers.</a:t>
            </a:r>
          </a:p>
          <a:p>
            <a:r>
              <a:rPr lang="en-US" sz="2400" b="1" dirty="0"/>
              <a:t>Scalability Grid:</a:t>
            </a:r>
            <a:r>
              <a:rPr lang="en-US" sz="2400" dirty="0"/>
              <a:t> The sources outline three primary Goldberg Polyhedron (GP) types: </a:t>
            </a:r>
          </a:p>
          <a:p>
            <a:pPr lvl="1"/>
            <a:r>
              <a:rPr lang="en-US" sz="2400" b="1" dirty="0"/>
              <a:t>GP{2,2}:</a:t>
            </a:r>
            <a:r>
              <a:rPr lang="en-US" sz="2400" dirty="0"/>
              <a:t> 122 total frequency (12 pentagons, 110 hexagons).</a:t>
            </a:r>
          </a:p>
          <a:p>
            <a:pPr lvl="1"/>
            <a:r>
              <a:rPr lang="en-US" sz="2400" b="1" dirty="0"/>
              <a:t>GP{3,3}:</a:t>
            </a:r>
            <a:r>
              <a:rPr lang="en-US" sz="2400" dirty="0"/>
              <a:t> 272 total frequency (12 pentagons, 260 hexagons).</a:t>
            </a:r>
          </a:p>
          <a:p>
            <a:pPr lvl="1"/>
            <a:r>
              <a:rPr lang="en-US" sz="2400" b="1" dirty="0"/>
              <a:t>GP{4,4}:</a:t>
            </a:r>
            <a:r>
              <a:rPr lang="en-US" sz="2400" dirty="0"/>
              <a:t> 482 total frequency (12 pentagons, 470 hexagons).</a:t>
            </a:r>
          </a:p>
          <a:p>
            <a:r>
              <a:rPr lang="en-US" sz="2400" b="1" dirty="0"/>
              <a:t>Lens Density:</a:t>
            </a:r>
            <a:r>
              <a:rPr lang="en-US" sz="2400" dirty="0"/>
              <a:t> Total sky coverage is further scaled by the number of lenses per facial plate. For example, a GP{3,3} using a configuration of 11 lenses per pentagon and 19 per hexagon would house a total of </a:t>
            </a:r>
            <a:r>
              <a:rPr lang="en-US" sz="2400" b="1" dirty="0"/>
              <a:t>6,594 lenses</a:t>
            </a:r>
            <a:r>
              <a:rPr lang="en-US" sz="2400" dirty="0"/>
              <a:t>.</a:t>
            </a:r>
          </a:p>
          <a:p>
            <a:r>
              <a:rPr lang="en-US" sz="2400" b="1" dirty="0"/>
              <a:t>Physical Size:</a:t>
            </a:r>
            <a:r>
              <a:rPr lang="en-US" sz="2400" dirty="0"/>
              <a:t> A diameter of </a:t>
            </a:r>
            <a:r>
              <a:rPr lang="en-US" sz="2400" b="1" dirty="0"/>
              <a:t>15 feet (4.6m)</a:t>
            </a:r>
            <a:r>
              <a:rPr lang="en-US" sz="2400" dirty="0"/>
              <a:t> is suggested for the polyhedron, as this size allows two truncated units to fit within a standard rocket payload fairing (PLF) like that of the Ariane 5.</a:t>
            </a:r>
          </a:p>
          <a:p>
            <a:endParaRPr lang="en-US" sz="2400" dirty="0"/>
          </a:p>
          <a:p>
            <a:r>
              <a:rPr lang="en-US" sz="2400" b="1" dirty="0"/>
              <a:t>Terrestrial vs. Orbital Implementation</a:t>
            </a:r>
          </a:p>
          <a:p>
            <a:r>
              <a:rPr lang="en-US" sz="2400" dirty="0"/>
              <a:t>In a </a:t>
            </a:r>
            <a:r>
              <a:rPr lang="en-US" sz="2400" b="1" dirty="0"/>
              <a:t>terrestrial configuration</a:t>
            </a:r>
            <a:r>
              <a:rPr lang="en-US" sz="2400" dirty="0"/>
              <a:t>, the polyhedron does not require truncation and can utilize all tapered chambers to track sky movement from east to west. In </a:t>
            </a:r>
            <a:r>
              <a:rPr lang="en-US" sz="2400" b="1" dirty="0"/>
              <a:t>orbital deployment</a:t>
            </a:r>
            <a:r>
              <a:rPr lang="en-US" sz="2400" dirty="0"/>
              <a:t>, the polyhedron design allows for a "tilting strategy" where tandem pairs of platforms are aimed at slightly different coordinates to create an expansive "tapestry" of the Field of View (</a:t>
            </a:r>
            <a:r>
              <a:rPr lang="en-US" sz="2400" dirty="0" err="1"/>
              <a:t>FoV</a:t>
            </a:r>
            <a:r>
              <a:rPr lang="en-US" sz="2400" dirty="0"/>
              <a:t>).</a:t>
            </a:r>
          </a:p>
        </p:txBody>
      </p:sp>
      <p:sp>
        <p:nvSpPr>
          <p:cNvPr id="18" name="AutoShape 3">
            <a:extLst>
              <a:ext uri="{FF2B5EF4-FFF2-40B4-BE49-F238E27FC236}">
                <a16:creationId xmlns:a16="http://schemas.microsoft.com/office/drawing/2014/main" id="{F143D471-1B7F-1D80-F296-C22837CA7A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7000" y="-2889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utoShape 4">
            <a:extLst>
              <a:ext uri="{FF2B5EF4-FFF2-40B4-BE49-F238E27FC236}">
                <a16:creationId xmlns:a16="http://schemas.microsoft.com/office/drawing/2014/main" id="{9EFC3E13-B3F1-07B8-7089-91D494CBD1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7000" y="27463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706CE3-DA91-0C29-C525-1817A9AF4ECA}"/>
              </a:ext>
            </a:extLst>
          </p:cNvPr>
          <p:cNvSpPr txBox="1"/>
          <p:nvPr/>
        </p:nvSpPr>
        <p:spPr>
          <a:xfrm>
            <a:off x="21960656" y="16787700"/>
            <a:ext cx="10744199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Figure 1: Goldberg polyhedron metrics of scalability</a:t>
            </a:r>
            <a:r>
              <a:rPr lang="en-US" sz="2400" dirty="0"/>
              <a:t>. </a:t>
            </a:r>
            <a:r>
              <a:rPr lang="en-US" sz="2400" b="1" dirty="0"/>
              <a:t>A data table summarizing frequency, face counts (pentagons/hexagons), truncation metrics, and total lens calculations for different Goldberg polyhedron types.</a:t>
            </a:r>
          </a:p>
          <a:p>
            <a:endParaRPr lang="en-US" sz="2400" dirty="0"/>
          </a:p>
          <a:p>
            <a:pPr lvl="1"/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pic>
        <p:nvPicPr>
          <p:cNvPr id="30" name="Picture 29" descr="A table with numbers and a number of hexagons&#10;&#10;AI-generated content may be incorrect.">
            <a:extLst>
              <a:ext uri="{FF2B5EF4-FFF2-40B4-BE49-F238E27FC236}">
                <a16:creationId xmlns:a16="http://schemas.microsoft.com/office/drawing/2014/main" id="{62B164C8-B462-C062-2FF2-C9753B5A79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78318" y="18178861"/>
            <a:ext cx="4565650" cy="4338986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A3FE679-5771-A2D9-CAD2-D5EEEED15E88}"/>
              </a:ext>
            </a:extLst>
          </p:cNvPr>
          <p:cNvSpPr txBox="1"/>
          <p:nvPr/>
        </p:nvSpPr>
        <p:spPr>
          <a:xfrm>
            <a:off x="32715200" y="15875"/>
            <a:ext cx="5308600" cy="318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Progressive Series of Figures</a:t>
            </a:r>
          </a:p>
          <a:p>
            <a:pPr>
              <a:buNone/>
            </a:pPr>
            <a:r>
              <a:rPr lang="en-US" sz="2400" dirty="0"/>
              <a:t>The following figures sequentially illustrate the buildup to the FSKI platform’s design:</a:t>
            </a:r>
          </a:p>
          <a:p>
            <a:r>
              <a:rPr lang="en-US" sz="2400" b="1" dirty="0"/>
              <a:t>Figure 4: Goldberg polyhedron{3,3} with 12 pentagons and 260 hexagons, 272 tapered chambers.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Figure 5: A side-profile showing prior sphere truncated to 201 tapered lens compartments.</a:t>
            </a:r>
          </a:p>
          <a:p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r>
              <a:rPr lang="en-US" sz="2400" b="1" dirty="0"/>
              <a:t>Figure 6: Two FSKI units facing diametrically opposite directions away from the Sun.</a:t>
            </a:r>
          </a:p>
          <a:p>
            <a:pPr lvl="0"/>
            <a:endParaRPr lang="en-US" sz="2400" dirty="0"/>
          </a:p>
          <a:p>
            <a:pPr lvl="0"/>
            <a:endParaRPr lang="en-US" sz="2400" dirty="0"/>
          </a:p>
          <a:p>
            <a:pPr lvl="0"/>
            <a:endParaRPr lang="en-US" sz="2400" dirty="0"/>
          </a:p>
          <a:p>
            <a:pPr lvl="0"/>
            <a:endParaRPr lang="en-US" sz="2400" dirty="0"/>
          </a:p>
          <a:p>
            <a:pPr lvl="0"/>
            <a:endParaRPr lang="en-US" sz="2400" dirty="0"/>
          </a:p>
          <a:p>
            <a:pPr lvl="0"/>
            <a:endParaRPr lang="en-US" sz="2400" dirty="0"/>
          </a:p>
          <a:p>
            <a:pPr lvl="0"/>
            <a:endParaRPr lang="en-US" sz="2400" dirty="0"/>
          </a:p>
          <a:p>
            <a:r>
              <a:rPr lang="en-US" sz="2400" b="1" dirty="0"/>
              <a:t>Figure 7: Vacant spaces incurred with the truncated polyhedron, revealing the unused 2/5ths of the polyhedron framed with a flat base wall.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Figure 8: A cross-section of interior core, highlighting the central equipment bay (outlined in yellow) and port holes to tapered chambers.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Figure 9: Detailed addition of central utility post, umbrella sunshield, high-gain antenna.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Figure 10: Abbreviated view of tandem pair for deployment in solar orbit</a:t>
            </a:r>
            <a:r>
              <a:rPr lang="en-US" sz="2400" dirty="0"/>
              <a:t>.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Figure 11: FSKI full configuration with specific lens counts (e.g., n=5 for pentagons and n=7 for hexagons).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Figure 12: Embodiment of various lens configurations on the face of a hexagon (1, 7, 13 lenses on 18-inch hexagon.</a:t>
            </a:r>
            <a:r>
              <a:rPr lang="en-US" sz="2400" dirty="0"/>
              <a:t> </a:t>
            </a:r>
          </a:p>
          <a:p>
            <a:endParaRPr lang="en-US" sz="2400" dirty="0"/>
          </a:p>
        </p:txBody>
      </p:sp>
      <p:pic>
        <p:nvPicPr>
          <p:cNvPr id="38" name="Picture 37" descr="A colorful circular object with many different colored hexagons&#10;&#10;AI-generated content may be incorrect.">
            <a:extLst>
              <a:ext uri="{FF2B5EF4-FFF2-40B4-BE49-F238E27FC236}">
                <a16:creationId xmlns:a16="http://schemas.microsoft.com/office/drawing/2014/main" id="{304C8561-AE87-528D-2ACE-3C8CBD2AE8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6349" y="2777067"/>
            <a:ext cx="1670051" cy="1670051"/>
          </a:xfrm>
          <a:prstGeom prst="rect">
            <a:avLst/>
          </a:prstGeom>
        </p:spPr>
      </p:pic>
      <p:pic>
        <p:nvPicPr>
          <p:cNvPr id="40" name="Picture 39" descr="A colorful broken object with a hole in the middle&#10;&#10;AI-generated content may be incorrect.">
            <a:extLst>
              <a:ext uri="{FF2B5EF4-FFF2-40B4-BE49-F238E27FC236}">
                <a16:creationId xmlns:a16="http://schemas.microsoft.com/office/drawing/2014/main" id="{BFEE6260-BB24-5AA1-35FE-1BA19793D9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72229" y="5683402"/>
            <a:ext cx="1670051" cy="2114214"/>
          </a:xfrm>
          <a:prstGeom prst="rect">
            <a:avLst/>
          </a:prstGeom>
        </p:spPr>
      </p:pic>
      <p:pic>
        <p:nvPicPr>
          <p:cNvPr id="42" name="Picture 41" descr="A diagram of a solar cell&#10;&#10;AI-generated content may be incorrect.">
            <a:extLst>
              <a:ext uri="{FF2B5EF4-FFF2-40B4-BE49-F238E27FC236}">
                <a16:creationId xmlns:a16="http://schemas.microsoft.com/office/drawing/2014/main" id="{1D053055-79C8-99C4-36EE-79D72A88AD7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853159" y="9383632"/>
            <a:ext cx="5032682" cy="2112958"/>
          </a:xfrm>
          <a:prstGeom prst="rect">
            <a:avLst/>
          </a:prstGeom>
        </p:spPr>
      </p:pic>
      <p:pic>
        <p:nvPicPr>
          <p:cNvPr id="44" name="Picture 43" descr="A close-up of a colorful oval&#10;&#10;AI-generated content may be incorrect.">
            <a:extLst>
              <a:ext uri="{FF2B5EF4-FFF2-40B4-BE49-F238E27FC236}">
                <a16:creationId xmlns:a16="http://schemas.microsoft.com/office/drawing/2014/main" id="{1CD27959-050D-B0C6-5712-0D61CE2422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55703" y="13627561"/>
            <a:ext cx="4247087" cy="2069093"/>
          </a:xfrm>
          <a:prstGeom prst="rect">
            <a:avLst/>
          </a:prstGeom>
        </p:spPr>
      </p:pic>
      <p:pic>
        <p:nvPicPr>
          <p:cNvPr id="48" name="Picture 47" descr="A close-up of a colorful sphere&#10;&#10;AI-generated content may be incorrect.">
            <a:extLst>
              <a:ext uri="{FF2B5EF4-FFF2-40B4-BE49-F238E27FC236}">
                <a16:creationId xmlns:a16="http://schemas.microsoft.com/office/drawing/2014/main" id="{49EDE520-A917-A0FA-678F-B9592286499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986130" y="17251187"/>
            <a:ext cx="4642245" cy="2233817"/>
          </a:xfrm>
          <a:prstGeom prst="rect">
            <a:avLst/>
          </a:prstGeom>
        </p:spPr>
      </p:pic>
      <p:pic>
        <p:nvPicPr>
          <p:cNvPr id="50" name="Picture 49" descr="A colorful egg shaped object with a wooden pole and a purple umbrella&#10;&#10;AI-generated content may be incorrect.">
            <a:extLst>
              <a:ext uri="{FF2B5EF4-FFF2-40B4-BE49-F238E27FC236}">
                <a16:creationId xmlns:a16="http://schemas.microsoft.com/office/drawing/2014/main" id="{E99CC2AC-2E8B-C977-4EF6-1F3AA957037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6200000">
            <a:off x="34450246" y="19969717"/>
            <a:ext cx="1813109" cy="2946302"/>
          </a:xfrm>
          <a:prstGeom prst="rect">
            <a:avLst/>
          </a:prstGeom>
        </p:spPr>
      </p:pic>
      <p:pic>
        <p:nvPicPr>
          <p:cNvPr id="52" name="Picture 51" descr="A satellite antenna with a yellow circle and black text&#10;&#10;AI-generated content may be incorrect.">
            <a:extLst>
              <a:ext uri="{FF2B5EF4-FFF2-40B4-BE49-F238E27FC236}">
                <a16:creationId xmlns:a16="http://schemas.microsoft.com/office/drawing/2014/main" id="{23956ABA-0478-78F3-9E3F-A0E8ACB9E84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971873" y="23473753"/>
            <a:ext cx="5010485" cy="1549043"/>
          </a:xfrm>
          <a:prstGeom prst="rect">
            <a:avLst/>
          </a:prstGeom>
        </p:spPr>
      </p:pic>
      <p:pic>
        <p:nvPicPr>
          <p:cNvPr id="54" name="Picture 53" descr="A colorful object with a structure&#10;&#10;AI-generated content may be incorrect.">
            <a:extLst>
              <a:ext uri="{FF2B5EF4-FFF2-40B4-BE49-F238E27FC236}">
                <a16:creationId xmlns:a16="http://schemas.microsoft.com/office/drawing/2014/main" id="{32AECA0E-3ECD-21CE-7E9A-4FBCE1C246D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6200000">
            <a:off x="33852194" y="25614465"/>
            <a:ext cx="3112382" cy="495491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3BAA0108-2F07-CE61-4779-6C06F9F6E06B}"/>
              </a:ext>
            </a:extLst>
          </p:cNvPr>
          <p:cNvSpPr txBox="1"/>
          <p:nvPr/>
        </p:nvSpPr>
        <p:spPr>
          <a:xfrm>
            <a:off x="38023800" y="-20727"/>
            <a:ext cx="4927600" cy="24837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Figure 13: Terrestrial FSKI on a axis at 32 degrees latitude for terrestrial observation.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Figure 14: L2, L3, L4 deployment. Multiple-frame orbital path and a coms relay at L4.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Figure 15: L4, L5 deployment. Multiple-frame orbital path at stable Lagrange points without need for coms relay.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Figure 16: Tandem multiples at L4, L5. FSKI tandem pair to enhance sky coverage via a "fixed tilt" strategy.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Figure 17: Perspective Fairing Enclosure; also see Figure 0.</a:t>
            </a:r>
          </a:p>
          <a:p>
            <a:endParaRPr lang="en-US" sz="2400" dirty="0"/>
          </a:p>
        </p:txBody>
      </p:sp>
      <p:pic>
        <p:nvPicPr>
          <p:cNvPr id="59" name="Picture 58" descr="A hexagon with blue lines and red circles&#10;&#10;AI-generated content may be incorrect.">
            <a:extLst>
              <a:ext uri="{FF2B5EF4-FFF2-40B4-BE49-F238E27FC236}">
                <a16:creationId xmlns:a16="http://schemas.microsoft.com/office/drawing/2014/main" id="{7A9CCB37-DAA0-0876-A6C3-A946D0FCE7E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853159" y="31160900"/>
            <a:ext cx="4985102" cy="1670051"/>
          </a:xfrm>
          <a:prstGeom prst="rect">
            <a:avLst/>
          </a:prstGeom>
        </p:spPr>
      </p:pic>
      <p:pic>
        <p:nvPicPr>
          <p:cNvPr id="61" name="Picture 60" descr="A lollipop with a purple stick&#10;&#10;AI-generated content may be incorrect.">
            <a:extLst>
              <a:ext uri="{FF2B5EF4-FFF2-40B4-BE49-F238E27FC236}">
                <a16:creationId xmlns:a16="http://schemas.microsoft.com/office/drawing/2014/main" id="{D4231FCB-D701-653D-1E7D-EAB07D6926F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446204" y="1143628"/>
            <a:ext cx="1854196" cy="2501008"/>
          </a:xfrm>
          <a:prstGeom prst="rect">
            <a:avLst/>
          </a:prstGeom>
        </p:spPr>
      </p:pic>
      <p:pic>
        <p:nvPicPr>
          <p:cNvPr id="63" name="Picture 62" descr="A diagram of the sun&#10;&#10;AI-generated content may be incorrect.">
            <a:extLst>
              <a:ext uri="{FF2B5EF4-FFF2-40B4-BE49-F238E27FC236}">
                <a16:creationId xmlns:a16="http://schemas.microsoft.com/office/drawing/2014/main" id="{4F28FF30-5469-449D-DFF2-820E7044BF2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052745" y="4783833"/>
            <a:ext cx="4919931" cy="5793563"/>
          </a:xfrm>
          <a:prstGeom prst="rect">
            <a:avLst/>
          </a:prstGeom>
        </p:spPr>
      </p:pic>
      <p:pic>
        <p:nvPicPr>
          <p:cNvPr id="67" name="Picture 66" descr="A screenshot of a graph&#10;&#10;AI-generated content may be incorrect.">
            <a:extLst>
              <a:ext uri="{FF2B5EF4-FFF2-40B4-BE49-F238E27FC236}">
                <a16:creationId xmlns:a16="http://schemas.microsoft.com/office/drawing/2014/main" id="{8AF6E4BC-C36B-1C28-83F4-9E51AFE3178B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072945" y="12092331"/>
            <a:ext cx="4817537" cy="4817537"/>
          </a:xfrm>
          <a:prstGeom prst="rect">
            <a:avLst/>
          </a:prstGeom>
        </p:spPr>
      </p:pic>
      <p:pic>
        <p:nvPicPr>
          <p:cNvPr id="71" name="Picture 70" descr="A screenshot of a diagram&#10;&#10;AI-generated content may be incorrect.">
            <a:extLst>
              <a:ext uri="{FF2B5EF4-FFF2-40B4-BE49-F238E27FC236}">
                <a16:creationId xmlns:a16="http://schemas.microsoft.com/office/drawing/2014/main" id="{49FFF1A2-5568-9295-B897-9E776CF21EA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44490" y="18310597"/>
            <a:ext cx="4934262" cy="4817538"/>
          </a:xfrm>
          <a:prstGeom prst="rect">
            <a:avLst/>
          </a:prstGeom>
        </p:spPr>
      </p:pic>
      <p:pic>
        <p:nvPicPr>
          <p:cNvPr id="75" name="Picture 74" descr="A person wearing glasses and a tie&#10;&#10;AI-generated content may be incorrect.">
            <a:extLst>
              <a:ext uri="{FF2B5EF4-FFF2-40B4-BE49-F238E27FC236}">
                <a16:creationId xmlns:a16="http://schemas.microsoft.com/office/drawing/2014/main" id="{989EEF91-E20B-1180-0946-C930CBB0BE9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77334" y="795871"/>
            <a:ext cx="2740889" cy="319652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5AC8785D-E34F-3306-A54A-87C3AF57F88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73717" y="10693999"/>
            <a:ext cx="3944506" cy="3944506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BB6904AA-829B-85DD-A3D2-C1D7B7004E8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40170" y="765356"/>
            <a:ext cx="3203829" cy="3203829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26D96463-642E-378D-737A-B3DA25EF0DCA}"/>
              </a:ext>
            </a:extLst>
          </p:cNvPr>
          <p:cNvSpPr txBox="1"/>
          <p:nvPr/>
        </p:nvSpPr>
        <p:spPr>
          <a:xfrm>
            <a:off x="21928687" y="22748221"/>
            <a:ext cx="10794939" cy="9602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Figure 2: A realization of sky coverage--1/2 of the sky dome at 2.50 degrees of target separation. An ICRS RA/Dec grid plot; blue for the half-sphere and red indicating </a:t>
            </a:r>
            <a:r>
              <a:rPr lang="en-US" sz="2400" b="1" dirty="0" err="1"/>
              <a:t>FoV</a:t>
            </a:r>
            <a:r>
              <a:rPr lang="en-US" sz="2400" b="1" dirty="0"/>
              <a:t> overlap</a:t>
            </a:r>
            <a:r>
              <a:rPr lang="en-US" b="1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b="1" dirty="0"/>
          </a:p>
          <a:p>
            <a:r>
              <a:rPr lang="en-US" sz="2400" b="1" dirty="0"/>
              <a:t>Figure 3: A realization of sky coverage--1/2 of the sky dome at 1.25 degrees of target separation. A grid plot shows higher point density.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800" dirty="0"/>
          </a:p>
        </p:txBody>
      </p:sp>
      <p:pic>
        <p:nvPicPr>
          <p:cNvPr id="80" name="Picture 79" descr="A diagram of the earth&#10;&#10;AI-generated content may be incorrect.">
            <a:extLst>
              <a:ext uri="{FF2B5EF4-FFF2-40B4-BE49-F238E27FC236}">
                <a16:creationId xmlns:a16="http://schemas.microsoft.com/office/drawing/2014/main" id="{EFBC2724-4AE3-BFB7-659A-AE5356BE8072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5297552" y="23611393"/>
            <a:ext cx="7190863" cy="3803862"/>
          </a:xfrm>
          <a:prstGeom prst="rect">
            <a:avLst/>
          </a:prstGeom>
        </p:spPr>
      </p:pic>
      <p:pic>
        <p:nvPicPr>
          <p:cNvPr id="84" name="Picture 83" descr="A diagram of a sphere&#10;&#10;AI-generated content may be incorrect.">
            <a:extLst>
              <a:ext uri="{FF2B5EF4-FFF2-40B4-BE49-F238E27FC236}">
                <a16:creationId xmlns:a16="http://schemas.microsoft.com/office/drawing/2014/main" id="{662DAE17-E018-3B06-D07C-217C328BC09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5464893" y="28365498"/>
            <a:ext cx="6909868" cy="3655219"/>
          </a:xfrm>
          <a:prstGeom prst="rect">
            <a:avLst/>
          </a:prstGeom>
        </p:spPr>
      </p:pic>
      <p:pic>
        <p:nvPicPr>
          <p:cNvPr id="85" name="FSKIOrbitAnimationAtL4L5.mp4">
            <a:hlinkClick r:id="" action="ppaction://media"/>
            <a:extLst>
              <a:ext uri="{FF2B5EF4-FFF2-40B4-BE49-F238E27FC236}">
                <a16:creationId xmlns:a16="http://schemas.microsoft.com/office/drawing/2014/main" id="{8F7A909C-54EF-5D99-EAE1-34B9BFCC07C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7"/>
          <a:stretch>
            <a:fillRect/>
          </a:stretch>
        </p:blipFill>
        <p:spPr>
          <a:xfrm>
            <a:off x="996996" y="24089559"/>
            <a:ext cx="10061157" cy="8803512"/>
          </a:xfrm>
          <a:prstGeom prst="rect">
            <a:avLst/>
          </a:prstGeom>
        </p:spPr>
      </p:pic>
      <p:pic>
        <p:nvPicPr>
          <p:cNvPr id="86" name="FSKIOrbitAnimationAtL2L3L4.mp4">
            <a:hlinkClick r:id="" action="ppaction://media"/>
            <a:extLst>
              <a:ext uri="{FF2B5EF4-FFF2-40B4-BE49-F238E27FC236}">
                <a16:creationId xmlns:a16="http://schemas.microsoft.com/office/drawing/2014/main" id="{C2AF71E4-84EC-2AE0-85BC-C8B685E3645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8"/>
          <a:stretch>
            <a:fillRect/>
          </a:stretch>
        </p:blipFill>
        <p:spPr>
          <a:xfrm>
            <a:off x="939846" y="15124256"/>
            <a:ext cx="10061157" cy="88035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9ADEB4-4020-D1DB-EFE2-B1C304CC018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8124140" y="23857641"/>
            <a:ext cx="4719859" cy="4719859"/>
          </a:xfrm>
          <a:prstGeom prst="rect">
            <a:avLst/>
          </a:prstGeom>
        </p:spPr>
      </p:pic>
      <p:pic>
        <p:nvPicPr>
          <p:cNvPr id="6" name="FSKISolarArrayAndSolarShieldOuterSpaceDeploymentAnimationb.mp4">
            <a:hlinkClick r:id="" action="ppaction://media"/>
            <a:extLst>
              <a:ext uri="{FF2B5EF4-FFF2-40B4-BE49-F238E27FC236}">
                <a16:creationId xmlns:a16="http://schemas.microsoft.com/office/drawing/2014/main" id="{2EA3B589-8D13-B1AF-00D3-1F54559918D0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0"/>
          <a:stretch>
            <a:fillRect/>
          </a:stretch>
        </p:blipFill>
        <p:spPr>
          <a:xfrm>
            <a:off x="17086946" y="27637221"/>
            <a:ext cx="4671522" cy="619188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811B63F-66D4-FD21-1912-393BE73959E1}"/>
              </a:ext>
            </a:extLst>
          </p:cNvPr>
          <p:cNvSpPr/>
          <p:nvPr/>
        </p:nvSpPr>
        <p:spPr>
          <a:xfrm>
            <a:off x="11315700" y="-114299"/>
            <a:ext cx="21287015" cy="89768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 </a:t>
            </a:r>
            <a:r>
              <a:rPr lang="en-US" sz="5200" b="1" i="1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Introducing a Platform  for Full Sky Kinetics and Imaging [FSKI]</a:t>
            </a:r>
          </a:p>
          <a:p>
            <a:pPr algn="ctr"/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59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000" fill="hold"/>
                                        <p:tgtEl>
                                          <p:spTgt spid="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6000" fill="hold"/>
                                        <p:tgtEl>
                                          <p:spTgt spid="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46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85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86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3931</TotalTime>
  <Words>1677</Words>
  <Application>Microsoft Macintosh PowerPoint</Application>
  <PresentationFormat>Custom</PresentationFormat>
  <Paragraphs>259</Paragraphs>
  <Slides>1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Pam Klich</dc:creator>
  <cp:lastModifiedBy>Pam Klich</cp:lastModifiedBy>
  <cp:revision>41</cp:revision>
  <dcterms:created xsi:type="dcterms:W3CDTF">2026-07-28T14:21:43Z</dcterms:created>
  <dcterms:modified xsi:type="dcterms:W3CDTF">2026-08-04T15:08:02Z</dcterms:modified>
</cp:coreProperties>
</file>